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1 Bold" charset="1" panose="020B0803030501040103"/>
      <p:regular r:id="rId15"/>
    </p:embeddedFont>
    <p:embeddedFont>
      <p:font typeface="Canva Sans 1" charset="1" panose="020B0503030501040103"/>
      <p:regular r:id="rId16"/>
    </p:embeddedFont>
    <p:embeddedFont>
      <p:font typeface="Arimo Bold" charset="1" panose="020B0704020202020204"/>
      <p:regular r:id="rId17"/>
    </p:embeddedFont>
    <p:embeddedFont>
      <p:font typeface="Helvetica World" charset="1" panose="020B0500040000020004"/>
      <p:regular r:id="rId18"/>
    </p:embeddedFont>
    <p:embeddedFont>
      <p:font typeface="Helvetica World Bold" charset="1" panose="020B0800040000020004"/>
      <p:regular r:id="rId19"/>
    </p:embeddedFont>
    <p:embeddedFont>
      <p:font typeface="Arimo" charset="1" panose="020B0604020202020204"/>
      <p:regular r:id="rId20"/>
    </p:embeddedFont>
    <p:embeddedFont>
      <p:font typeface="Canva Sans 2 Bold" charset="1" panose="020B08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14" Target="../media/image45.png" Type="http://schemas.openxmlformats.org/officeDocument/2006/relationships/image"/><Relationship Id="rId15" Target="../media/image46.png" Type="http://schemas.openxmlformats.org/officeDocument/2006/relationships/image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29875" y="-12700"/>
            <a:ext cx="7858125" cy="10299700"/>
            <a:chOff x="0" y="0"/>
            <a:chExt cx="675818" cy="88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5818" cy="885799"/>
            </a:xfrm>
            <a:custGeom>
              <a:avLst/>
              <a:gdLst/>
              <a:ahLst/>
              <a:cxnLst/>
              <a:rect r="r" b="b" t="t" l="l"/>
              <a:pathLst>
                <a:path h="885799" w="675818">
                  <a:moveTo>
                    <a:pt x="0" y="0"/>
                  </a:moveTo>
                  <a:lnTo>
                    <a:pt x="675818" y="0"/>
                  </a:lnTo>
                  <a:lnTo>
                    <a:pt x="675818" y="885799"/>
                  </a:lnTo>
                  <a:lnTo>
                    <a:pt x="0" y="885799"/>
                  </a:lnTo>
                  <a:close/>
                </a:path>
              </a:pathLst>
            </a:custGeom>
            <a:blipFill>
              <a:blip r:embed="rId3"/>
              <a:stretch>
                <a:fillRect l="-15535" t="0" r="-1553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3188" y="537527"/>
            <a:ext cx="96112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Malla Reddy Vishwavidyapeet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188" y="2259998"/>
            <a:ext cx="91801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Department/Course details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579906" y="3269328"/>
            <a:ext cx="91801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B-Tech - CSM (AI&amp;ML)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843402" y="4645977"/>
            <a:ext cx="751006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Presented by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91700" y="5691823"/>
            <a:ext cx="94357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B.Yashwith Singh :25MVCSMR0203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491" y="6424613"/>
            <a:ext cx="830710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M.Balaji Ganesh:25MVCSMR0241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7937" y="7157403"/>
            <a:ext cx="612450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B.Nikhill:25MVCSMR0204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3372" y="7890193"/>
            <a:ext cx="682035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D.Shashikiran:25MVCSMR0212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487728" y="0"/>
            <a:ext cx="9800272" cy="10287000"/>
            <a:chOff x="0" y="0"/>
            <a:chExt cx="1306703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6703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067030">
                  <a:moveTo>
                    <a:pt x="0" y="0"/>
                  </a:moveTo>
                  <a:lnTo>
                    <a:pt x="13067030" y="0"/>
                  </a:lnTo>
                  <a:lnTo>
                    <a:pt x="1306703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8820" y="1381554"/>
            <a:ext cx="8404860" cy="2519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70"/>
              </a:lnSpc>
            </a:pPr>
            <a:r>
              <a:rPr lang="en-US" b="true" sz="9570" spc="-284">
                <a:solidFill>
                  <a:srgbClr val="F8F8F8"/>
                </a:solidFill>
                <a:latin typeface="Arimo Bold"/>
                <a:ea typeface="Arimo Bold"/>
                <a:cs typeface="Arimo Bold"/>
                <a:sym typeface="Arimo Bold"/>
              </a:rPr>
              <a:t>Sudoku</a:t>
            </a:r>
          </a:p>
          <a:p>
            <a:pPr algn="l">
              <a:lnSpc>
                <a:spcPts val="9570"/>
              </a:lnSpc>
            </a:pPr>
            <a:r>
              <a:rPr lang="en-US" b="true" sz="9570" spc="-284">
                <a:solidFill>
                  <a:srgbClr val="F8F8F8"/>
                </a:solidFill>
                <a:latin typeface="Arimo Bold"/>
                <a:ea typeface="Arimo Bold"/>
                <a:cs typeface="Arimo Bold"/>
                <a:sym typeface="Arimo Bold"/>
              </a:rPr>
              <a:t>Solver Arena: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7028" y="3736619"/>
            <a:ext cx="8416652" cy="179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6"/>
              </a:lnSpc>
            </a:pPr>
            <a:r>
              <a:rPr lang="en-US" b="true" sz="6123" spc="-181">
                <a:solidFill>
                  <a:srgbClr val="3B93ED"/>
                </a:solidFill>
                <a:latin typeface="Arimo Bold"/>
                <a:ea typeface="Arimo Bold"/>
                <a:cs typeface="Arimo Bold"/>
                <a:sym typeface="Arimo Bold"/>
              </a:rPr>
              <a:t>Visualizing Backtracking and Constraint Checking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64089" y="5783018"/>
            <a:ext cx="1323470" cy="218637"/>
            <a:chOff x="0" y="0"/>
            <a:chExt cx="1764627" cy="2915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4665" cy="291465"/>
            </a:xfrm>
            <a:custGeom>
              <a:avLst/>
              <a:gdLst/>
              <a:ahLst/>
              <a:cxnLst/>
              <a:rect r="r" b="b" t="t" l="l"/>
              <a:pathLst>
                <a:path h="291465" w="1764665">
                  <a:moveTo>
                    <a:pt x="0" y="0"/>
                  </a:moveTo>
                  <a:lnTo>
                    <a:pt x="1764665" y="0"/>
                  </a:lnTo>
                  <a:lnTo>
                    <a:pt x="1764665" y="291465"/>
                  </a:lnTo>
                  <a:lnTo>
                    <a:pt x="0" y="291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2" b="-47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8820" y="6570549"/>
            <a:ext cx="6899386" cy="43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3093" spc="-92">
                <a:solidFill>
                  <a:srgbClr val="F8F8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Interactive Algorithm-Centric Prototype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1331559" cy="10287000"/>
            <a:chOff x="0" y="0"/>
            <a:chExt cx="15108746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10881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108810">
                  <a:moveTo>
                    <a:pt x="0" y="0"/>
                  </a:moveTo>
                  <a:lnTo>
                    <a:pt x="15108810" y="0"/>
                  </a:lnTo>
                  <a:lnTo>
                    <a:pt x="1510881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5564381"/>
            <a:ext cx="1312535" cy="4722619"/>
            <a:chOff x="0" y="0"/>
            <a:chExt cx="1750047" cy="62968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0060" cy="6296787"/>
            </a:xfrm>
            <a:custGeom>
              <a:avLst/>
              <a:gdLst/>
              <a:ahLst/>
              <a:cxnLst/>
              <a:rect r="r" b="b" t="t" l="l"/>
              <a:pathLst>
                <a:path h="6296787" w="1750060">
                  <a:moveTo>
                    <a:pt x="0" y="0"/>
                  </a:moveTo>
                  <a:lnTo>
                    <a:pt x="1750060" y="0"/>
                  </a:lnTo>
                  <a:lnTo>
                    <a:pt x="1750060" y="6296787"/>
                  </a:lnTo>
                  <a:lnTo>
                    <a:pt x="0" y="6296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55164" y="972779"/>
            <a:ext cx="8245583" cy="88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b="true" sz="7542" spc="-223">
                <a:solidFill>
                  <a:srgbClr val="F8F8F8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4109" y="1966798"/>
            <a:ext cx="6350422" cy="88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2"/>
              </a:lnSpc>
            </a:pPr>
            <a:r>
              <a:rPr lang="en-US" b="true" sz="7542" spc="-223">
                <a:solidFill>
                  <a:srgbClr val="4D8DCE"/>
                </a:solidFill>
                <a:latin typeface="Arimo Bold"/>
                <a:ea typeface="Arimo Bold"/>
                <a:cs typeface="Arimo Bold"/>
                <a:sym typeface="Arimo Bold"/>
              </a:rPr>
              <a:t>and Objectives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64089" y="2995365"/>
            <a:ext cx="1750047" cy="437283"/>
            <a:chOff x="0" y="0"/>
            <a:chExt cx="2333396" cy="5830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3371" cy="583057"/>
            </a:xfrm>
            <a:custGeom>
              <a:avLst/>
              <a:gdLst/>
              <a:ahLst/>
              <a:cxnLst/>
              <a:rect r="r" b="b" t="t" l="l"/>
              <a:pathLst>
                <a:path h="583057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-1" b="-2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31869" y="3588658"/>
            <a:ext cx="5932980" cy="762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</a:pPr>
            <a:r>
              <a:rPr lang="en-US" sz="2442" spc="-72">
                <a:solidFill>
                  <a:srgbClr val="F8F8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Build an interactive Sudoku solver</a:t>
            </a:r>
          </a:p>
          <a:p>
            <a:pPr algn="l">
              <a:lnSpc>
                <a:spcPts val="3053"/>
              </a:lnSpc>
            </a:pPr>
            <a:r>
              <a:rPr lang="en-US" sz="2442" spc="-72">
                <a:solidFill>
                  <a:srgbClr val="F8F8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that accepts puzzles and validates entries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6203" y="4673041"/>
            <a:ext cx="5499716" cy="762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</a:pPr>
            <a:r>
              <a:rPr lang="en-US" sz="2442" spc="-72">
                <a:solidFill>
                  <a:srgbClr val="F8F8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Visualize backtracking step-by-step</a:t>
            </a:r>
          </a:p>
          <a:p>
            <a:pPr algn="l">
              <a:lnSpc>
                <a:spcPts val="3053"/>
              </a:lnSpc>
            </a:pPr>
            <a:r>
              <a:rPr lang="en-US" sz="2442" spc="-72">
                <a:solidFill>
                  <a:srgbClr val="F8F8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with visible decisions and undo actions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0954" y="5772483"/>
            <a:ext cx="6023886" cy="762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</a:pPr>
            <a:r>
              <a:rPr lang="en-US" sz="2442" spc="-72">
                <a:solidFill>
                  <a:srgbClr val="F8F8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Demonstrate key algorithms: backtracking and constraint checking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0709" y="6886985"/>
            <a:ext cx="4048373" cy="762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</a:pPr>
            <a:r>
              <a:rPr lang="en-US" sz="2442" spc="-72">
                <a:solidFill>
                  <a:srgbClr val="F8F8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Compare algorithm behavior across multiple approaches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39812" y="8082391"/>
            <a:ext cx="1395108" cy="41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8"/>
              </a:lnSpc>
            </a:pPr>
            <a:r>
              <a:rPr lang="en-US" b="true" sz="2574" spc="-76">
                <a:solidFill>
                  <a:srgbClr val="4D8DCE"/>
                </a:solidFill>
                <a:latin typeface="Arimo Bold"/>
                <a:ea typeface="Arimo Bold"/>
                <a:cs typeface="Arimo Bold"/>
                <a:sym typeface="Arimo Bold"/>
              </a:rPr>
              <a:t>Objective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3340" y="8528618"/>
            <a:ext cx="5042354" cy="113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3"/>
              </a:lnSpc>
            </a:pPr>
            <a:r>
              <a:rPr lang="en-US" sz="2442" spc="-72">
                <a:solidFill>
                  <a:srgbClr val="F8F8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Gain a clear understanding of </a:t>
            </a:r>
            <a:r>
              <a:rPr lang="en-US" b="true" sz="2442" spc="-72">
                <a:solidFill>
                  <a:srgbClr val="4D8DC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DAA</a:t>
            </a:r>
            <a:r>
              <a:rPr lang="en-US" sz="2442" spc="-72">
                <a:solidFill>
                  <a:srgbClr val="F8F8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(Design and Analysis of Algorithms) concepts through visualization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716000" y="4066699"/>
            <a:ext cx="4572000" cy="3006300"/>
            <a:chOff x="0" y="0"/>
            <a:chExt cx="6096000" cy="40083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0" cy="4008374"/>
            </a:xfrm>
            <a:custGeom>
              <a:avLst/>
              <a:gdLst/>
              <a:ahLst/>
              <a:cxnLst/>
              <a:rect r="r" b="b" t="t" l="l"/>
              <a:pathLst>
                <a:path h="400837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008374"/>
                  </a:lnTo>
                  <a:lnTo>
                    <a:pt x="0" y="4008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0" b="-2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33733" y="880596"/>
            <a:ext cx="7709602" cy="206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1"/>
              </a:lnSpc>
            </a:pPr>
            <a:r>
              <a:rPr lang="en-US" b="true" sz="6708" spc="-199">
                <a:solidFill>
                  <a:srgbClr val="F4F4F4"/>
                </a:solidFill>
                <a:latin typeface="Arimo Bold"/>
                <a:ea typeface="Arimo Bold"/>
                <a:cs typeface="Arimo Bold"/>
                <a:sym typeface="Arimo Bold"/>
              </a:rPr>
              <a:t>Data Representation and Validation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64089" y="3214002"/>
            <a:ext cx="1750047" cy="218637"/>
            <a:chOff x="0" y="0"/>
            <a:chExt cx="2333396" cy="2915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33371" cy="291465"/>
            </a:xfrm>
            <a:custGeom>
              <a:avLst/>
              <a:gdLst/>
              <a:ahLst/>
              <a:cxnLst/>
              <a:rect r="r" b="b" t="t" l="l"/>
              <a:pathLst>
                <a:path h="291465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291465"/>
                  </a:lnTo>
                  <a:lnTo>
                    <a:pt x="0" y="291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-1" b="-4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68785" y="3906222"/>
            <a:ext cx="6883613" cy="112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sz="3036" spc="-28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the Sudoku board as a </a:t>
            </a:r>
            <a:r>
              <a:rPr lang="en-US" b="true" sz="3036" spc="-28">
                <a:solidFill>
                  <a:srgbClr val="4C85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9×9 grid</a:t>
            </a:r>
          </a:p>
          <a:p>
            <a:pPr algn="l">
              <a:lnSpc>
                <a:spcPts val="4251"/>
              </a:lnSpc>
            </a:pPr>
            <a:r>
              <a:rPr lang="en-US" sz="3036" spc="-28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using a </a:t>
            </a:r>
            <a:r>
              <a:rPr lang="en-US" b="true" sz="3036" spc="-28">
                <a:solidFill>
                  <a:srgbClr val="4C85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2D array</a:t>
            </a:r>
            <a:r>
              <a:rPr lang="en-US" sz="3036" spc="-28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or list of lists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4678" y="5413743"/>
            <a:ext cx="8293684" cy="58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2"/>
              </a:lnSpc>
            </a:pPr>
            <a:r>
              <a:rPr lang="en-US" sz="3102" spc="-3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Cells store numbers </a:t>
            </a:r>
            <a:r>
              <a:rPr lang="en-US" b="true" sz="3102" spc="-30">
                <a:solidFill>
                  <a:srgbClr val="4C85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1–9</a:t>
            </a:r>
            <a:r>
              <a:rPr lang="en-US" sz="3102" spc="-3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or empty (0 or None)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833" y="6346079"/>
            <a:ext cx="6678454" cy="112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sz="3036" spc="-28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Validation enforces row, column, and</a:t>
            </a:r>
          </a:p>
          <a:p>
            <a:pPr algn="l">
              <a:lnSpc>
                <a:spcPts val="4251"/>
              </a:lnSpc>
            </a:pPr>
            <a:r>
              <a:rPr lang="en-US" sz="3036" spc="-28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3×3 subgrid rules with </a:t>
            </a:r>
            <a:r>
              <a:rPr lang="en-US" b="true" sz="3036" spc="-28">
                <a:solidFill>
                  <a:srgbClr val="4C85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 duplicates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4624" y="7873355"/>
            <a:ext cx="6299044" cy="591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1"/>
              </a:lnSpc>
            </a:pPr>
            <a:r>
              <a:rPr lang="en-US" sz="3036" spc="-28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</a:t>
            </a:r>
            <a:r>
              <a:rPr lang="en-US" b="true" sz="3036" spc="-28">
                <a:solidFill>
                  <a:srgbClr val="4C85B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sets</a:t>
            </a:r>
            <a:r>
              <a:rPr lang="en-US" sz="3036" spc="-28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fast constraint checks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789328" y="852697"/>
            <a:ext cx="7634583" cy="8362969"/>
            <a:chOff x="0" y="0"/>
            <a:chExt cx="10179444" cy="111506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79431" cy="11150600"/>
            </a:xfrm>
            <a:custGeom>
              <a:avLst/>
              <a:gdLst/>
              <a:ahLst/>
              <a:cxnLst/>
              <a:rect r="r" b="b" t="t" l="l"/>
              <a:pathLst>
                <a:path h="11150600" w="10179431">
                  <a:moveTo>
                    <a:pt x="0" y="0"/>
                  </a:moveTo>
                  <a:lnTo>
                    <a:pt x="10179431" y="0"/>
                  </a:lnTo>
                  <a:lnTo>
                    <a:pt x="10179431" y="11150600"/>
                  </a:lnTo>
                  <a:lnTo>
                    <a:pt x="0" y="1115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57196" y="1122769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94809" y="1122769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28589" y="1131094"/>
            <a:ext cx="704783" cy="60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5"/>
              </a:lnSpc>
            </a:pPr>
            <a:r>
              <a:rPr lang="en-US" sz="3927" spc="-37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  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78853" y="2930071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57196" y="3848786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66934" y="3848786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57196" y="4752432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32618" y="4752432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766934" y="4752432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57196" y="5656088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32618" y="5656088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66934" y="5656088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78853" y="6589852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64915" y="6589852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66934" y="6589852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E4969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54087" y="7508567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864915" y="7508567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766934" y="7508567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789328" y="8133397"/>
            <a:ext cx="1104719" cy="1082269"/>
            <a:chOff x="0" y="0"/>
            <a:chExt cx="1472959" cy="144302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72946" cy="1442974"/>
            </a:xfrm>
            <a:custGeom>
              <a:avLst/>
              <a:gdLst/>
              <a:ahLst/>
              <a:cxnLst/>
              <a:rect r="r" b="b" t="t" l="l"/>
              <a:pathLst>
                <a:path h="1442974" w="1472946">
                  <a:moveTo>
                    <a:pt x="0" y="0"/>
                  </a:moveTo>
                  <a:lnTo>
                    <a:pt x="1472946" y="0"/>
                  </a:lnTo>
                  <a:lnTo>
                    <a:pt x="147294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9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257196" y="8412213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A1B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766934" y="8412213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319192" y="852697"/>
            <a:ext cx="1104719" cy="1082269"/>
            <a:chOff x="0" y="0"/>
            <a:chExt cx="1472959" cy="14430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72946" cy="1442974"/>
            </a:xfrm>
            <a:custGeom>
              <a:avLst/>
              <a:gdLst/>
              <a:ahLst/>
              <a:cxnLst/>
              <a:rect r="r" b="b" t="t" l="l"/>
              <a:pathLst>
                <a:path h="1442974" w="1472946">
                  <a:moveTo>
                    <a:pt x="0" y="0"/>
                  </a:moveTo>
                  <a:lnTo>
                    <a:pt x="1472946" y="0"/>
                  </a:lnTo>
                  <a:lnTo>
                    <a:pt x="147294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9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319192" y="6428013"/>
            <a:ext cx="1104719" cy="1082269"/>
            <a:chOff x="0" y="0"/>
            <a:chExt cx="1472959" cy="14430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72946" cy="1442974"/>
            </a:xfrm>
            <a:custGeom>
              <a:avLst/>
              <a:gdLst/>
              <a:ahLst/>
              <a:cxnLst/>
              <a:rect r="r" b="b" t="t" l="l"/>
              <a:pathLst>
                <a:path h="1442974" w="1472946">
                  <a:moveTo>
                    <a:pt x="0" y="0"/>
                  </a:moveTo>
                  <a:lnTo>
                    <a:pt x="1472946" y="0"/>
                  </a:lnTo>
                  <a:lnTo>
                    <a:pt x="1472946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0" b="-29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257196" y="2041484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89681" y="7508567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766934" y="1122769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E4969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89681" y="2930071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802527" y="2930071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802527" y="6589852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632618" y="3848786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989681" y="8412213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802527" y="8412213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864915" y="2041484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954087" y="2041484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16465" y="1122769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016465" y="2041484"/>
            <a:ext cx="301552" cy="63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5"/>
              </a:lnSpc>
            </a:pPr>
            <a:r>
              <a:rPr lang="en-US" sz="4170" spc="-40">
                <a:solidFill>
                  <a:srgbClr val="F4F4F4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76811" y="680609"/>
            <a:ext cx="5365137" cy="97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5"/>
              </a:lnSpc>
            </a:pPr>
            <a:r>
              <a:rPr lang="en-US" b="true" sz="7070" spc="-140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Backtracking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5068" y="1713967"/>
            <a:ext cx="8218122" cy="96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27"/>
              </a:lnSpc>
            </a:pPr>
            <a:r>
              <a:rPr lang="en-US" b="true" sz="7119" spc="-141">
                <a:solidFill>
                  <a:srgbClr val="4589CF"/>
                </a:solidFill>
                <a:latin typeface="Arimo Bold"/>
                <a:ea typeface="Arimo Bold"/>
                <a:cs typeface="Arimo Bold"/>
                <a:sym typeface="Arimo Bold"/>
              </a:rPr>
              <a:t>Algorithm Explained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45328" y="2995365"/>
            <a:ext cx="1750047" cy="229572"/>
            <a:chOff x="0" y="0"/>
            <a:chExt cx="2333396" cy="306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371" cy="306070"/>
            </a:xfrm>
            <a:custGeom>
              <a:avLst/>
              <a:gdLst/>
              <a:ahLst/>
              <a:cxnLst/>
              <a:rect r="r" b="b" t="t" l="l"/>
              <a:pathLst>
                <a:path h="306070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" r="-1" b="-3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0693" y="3664010"/>
            <a:ext cx="3655781" cy="46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654" spc="-5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Pick the next empty cell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0330" y="4531395"/>
            <a:ext cx="4692253" cy="8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654" spc="-5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Try numbers 1 to 9 and check constraints after each attempt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6634" y="5856751"/>
            <a:ext cx="5061356" cy="88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654" spc="-5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valid, move forward recursively to the next empty cell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5301" y="7149865"/>
            <a:ext cx="5194830" cy="92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5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no number fits, undo and try the next option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7872" y="8475221"/>
            <a:ext cx="4937665" cy="92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spc="-5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Repeat until the puzzle is solved or no solution exists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08089" y="634051"/>
            <a:ext cx="3062583" cy="1519542"/>
            <a:chOff x="0" y="0"/>
            <a:chExt cx="4083444" cy="20260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83431" cy="2026031"/>
            </a:xfrm>
            <a:custGeom>
              <a:avLst/>
              <a:gdLst/>
              <a:ahLst/>
              <a:cxnLst/>
              <a:rect r="r" b="b" t="t" l="l"/>
              <a:pathLst>
                <a:path h="2026031" w="4083431">
                  <a:moveTo>
                    <a:pt x="0" y="0"/>
                  </a:moveTo>
                  <a:lnTo>
                    <a:pt x="4083431" y="0"/>
                  </a:lnTo>
                  <a:lnTo>
                    <a:pt x="4083431" y="2026031"/>
                  </a:lnTo>
                  <a:lnTo>
                    <a:pt x="0" y="202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642587" y="1016641"/>
            <a:ext cx="1789309" cy="81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429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Choose next empty cell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320624" y="1924031"/>
            <a:ext cx="437512" cy="863632"/>
            <a:chOff x="0" y="0"/>
            <a:chExt cx="583349" cy="11515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3311" cy="1151509"/>
            </a:xfrm>
            <a:custGeom>
              <a:avLst/>
              <a:gdLst/>
              <a:ahLst/>
              <a:cxnLst/>
              <a:rect r="r" b="b" t="t" l="l"/>
              <a:pathLst>
                <a:path h="1151509" w="583311">
                  <a:moveTo>
                    <a:pt x="0" y="0"/>
                  </a:moveTo>
                  <a:lnTo>
                    <a:pt x="583311" y="0"/>
                  </a:lnTo>
                  <a:lnTo>
                    <a:pt x="583311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-6" b="-2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008089" y="2776728"/>
            <a:ext cx="3062583" cy="1300905"/>
            <a:chOff x="0" y="0"/>
            <a:chExt cx="4083444" cy="17345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83431" cy="1734566"/>
            </a:xfrm>
            <a:custGeom>
              <a:avLst/>
              <a:gdLst/>
              <a:ahLst/>
              <a:cxnLst/>
              <a:rect r="r" b="b" t="t" l="l"/>
              <a:pathLst>
                <a:path h="1734566" w="4083431">
                  <a:moveTo>
                    <a:pt x="0" y="0"/>
                  </a:moveTo>
                  <a:lnTo>
                    <a:pt x="4083431" y="0"/>
                  </a:lnTo>
                  <a:lnTo>
                    <a:pt x="4083431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19054" y="2989612"/>
            <a:ext cx="1636376" cy="81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429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Try number</a:t>
            </a:r>
          </a:p>
          <a:p>
            <a:pPr algn="ctr">
              <a:lnSpc>
                <a:spcPts val="3158"/>
              </a:lnSpc>
            </a:pPr>
            <a:r>
              <a:rPr lang="en-US" sz="2429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 to 9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320624" y="3848062"/>
            <a:ext cx="437512" cy="874557"/>
            <a:chOff x="0" y="0"/>
            <a:chExt cx="583349" cy="116607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3311" cy="1166114"/>
            </a:xfrm>
            <a:custGeom>
              <a:avLst/>
              <a:gdLst/>
              <a:ahLst/>
              <a:cxnLst/>
              <a:rect r="r" b="b" t="t" l="l"/>
              <a:pathLst>
                <a:path h="1166114" w="583311">
                  <a:moveTo>
                    <a:pt x="0" y="0"/>
                  </a:moveTo>
                  <a:lnTo>
                    <a:pt x="583311" y="0"/>
                  </a:lnTo>
                  <a:lnTo>
                    <a:pt x="583311" y="1166114"/>
                  </a:lnTo>
                  <a:lnTo>
                    <a:pt x="0" y="1166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-6" b="-2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89328" y="4493047"/>
            <a:ext cx="3500095" cy="2372239"/>
            <a:chOff x="0" y="0"/>
            <a:chExt cx="4666793" cy="31629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66742" cy="3162935"/>
            </a:xfrm>
            <a:custGeom>
              <a:avLst/>
              <a:gdLst/>
              <a:ahLst/>
              <a:cxnLst/>
              <a:rect r="r" b="b" t="t" l="l"/>
              <a:pathLst>
                <a:path h="3162935" w="4666742">
                  <a:moveTo>
                    <a:pt x="0" y="0"/>
                  </a:moveTo>
                  <a:lnTo>
                    <a:pt x="4666742" y="0"/>
                  </a:lnTo>
                  <a:lnTo>
                    <a:pt x="4666742" y="3162935"/>
                  </a:lnTo>
                  <a:lnTo>
                    <a:pt x="0" y="3162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-1" b="-28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656065" y="5203555"/>
            <a:ext cx="1762373" cy="81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429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Valid under constraints?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320624" y="6635715"/>
            <a:ext cx="437512" cy="1082269"/>
            <a:chOff x="0" y="0"/>
            <a:chExt cx="583349" cy="14430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3311" cy="1442974"/>
            </a:xfrm>
            <a:custGeom>
              <a:avLst/>
              <a:gdLst/>
              <a:ahLst/>
              <a:cxnLst/>
              <a:rect r="r" b="b" t="t" l="l"/>
              <a:pathLst>
                <a:path h="1442974" w="583311">
                  <a:moveTo>
                    <a:pt x="0" y="0"/>
                  </a:moveTo>
                  <a:lnTo>
                    <a:pt x="583311" y="0"/>
                  </a:lnTo>
                  <a:lnTo>
                    <a:pt x="583311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-6" b="-2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08089" y="7499347"/>
            <a:ext cx="3062583" cy="1508617"/>
            <a:chOff x="0" y="0"/>
            <a:chExt cx="4083444" cy="20114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83431" cy="2011426"/>
            </a:xfrm>
            <a:custGeom>
              <a:avLst/>
              <a:gdLst/>
              <a:ahLst/>
              <a:cxnLst/>
              <a:rect r="r" b="b" t="t" l="l"/>
              <a:pathLst>
                <a:path h="2011426" w="4083431">
                  <a:moveTo>
                    <a:pt x="0" y="0"/>
                  </a:moveTo>
                  <a:lnTo>
                    <a:pt x="4083431" y="0"/>
                  </a:lnTo>
                  <a:lnTo>
                    <a:pt x="4083431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0" b="-2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631091" y="7869317"/>
            <a:ext cx="1812303" cy="811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</a:pPr>
            <a:r>
              <a:rPr lang="en-US" sz="2429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Undo and try next number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40976" y="1279046"/>
            <a:ext cx="3707911" cy="3651285"/>
            <a:chOff x="0" y="0"/>
            <a:chExt cx="4943881" cy="48683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43856" cy="4868418"/>
            </a:xfrm>
            <a:custGeom>
              <a:avLst/>
              <a:gdLst/>
              <a:ahLst/>
              <a:cxnLst/>
              <a:rect r="r" b="b" t="t" l="l"/>
              <a:pathLst>
                <a:path h="4868418" w="4943856">
                  <a:moveTo>
                    <a:pt x="0" y="0"/>
                  </a:moveTo>
                  <a:lnTo>
                    <a:pt x="4943856" y="0"/>
                  </a:lnTo>
                  <a:lnTo>
                    <a:pt x="4943856" y="4868418"/>
                  </a:lnTo>
                  <a:lnTo>
                    <a:pt x="0" y="486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0" b="-2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059727" y="5356670"/>
            <a:ext cx="1968808" cy="437283"/>
            <a:chOff x="0" y="0"/>
            <a:chExt cx="2625077" cy="5830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25090" cy="583057"/>
            </a:xfrm>
            <a:custGeom>
              <a:avLst/>
              <a:gdLst/>
              <a:ahLst/>
              <a:cxnLst/>
              <a:rect r="r" b="b" t="t" l="l"/>
              <a:pathLst>
                <a:path h="583057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6" r="0" b="-23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628532" y="5049269"/>
            <a:ext cx="632489" cy="46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b="true" sz="2601" spc="-51">
                <a:solidFill>
                  <a:srgbClr val="4589CF"/>
                </a:solidFill>
                <a:latin typeface="Arimo Bold"/>
                <a:ea typeface="Arimo Bold"/>
                <a:cs typeface="Arimo Bold"/>
                <a:sym typeface="Arimo Bold"/>
              </a:rPr>
              <a:t>YES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798840" y="4919396"/>
            <a:ext cx="3062583" cy="1519542"/>
            <a:chOff x="0" y="0"/>
            <a:chExt cx="4083444" cy="20260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83431" cy="2026031"/>
            </a:xfrm>
            <a:custGeom>
              <a:avLst/>
              <a:gdLst/>
              <a:ahLst/>
              <a:cxnLst/>
              <a:rect r="r" b="b" t="t" l="l"/>
              <a:pathLst>
                <a:path h="2026031" w="4083431">
                  <a:moveTo>
                    <a:pt x="0" y="0"/>
                  </a:moveTo>
                  <a:lnTo>
                    <a:pt x="4083431" y="0"/>
                  </a:lnTo>
                  <a:lnTo>
                    <a:pt x="4083431" y="2026031"/>
                  </a:lnTo>
                  <a:lnTo>
                    <a:pt x="0" y="202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6" r="0" b="-28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5341241" y="5188801"/>
            <a:ext cx="1980343" cy="81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1"/>
              </a:lnSpc>
            </a:pPr>
            <a:r>
              <a:rPr lang="en-US" sz="2478" spc="-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Place number and recuse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100441" y="6209367"/>
            <a:ext cx="448447" cy="1508617"/>
            <a:chOff x="0" y="0"/>
            <a:chExt cx="597929" cy="20114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7916" cy="2011426"/>
            </a:xfrm>
            <a:custGeom>
              <a:avLst/>
              <a:gdLst/>
              <a:ahLst/>
              <a:cxnLst/>
              <a:rect r="r" b="b" t="t" l="l"/>
              <a:pathLst>
                <a:path h="2011426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6" r="-2" b="-29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798840" y="7499347"/>
            <a:ext cx="3062583" cy="1508617"/>
            <a:chOff x="0" y="0"/>
            <a:chExt cx="4083444" cy="20114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83431" cy="2011426"/>
            </a:xfrm>
            <a:custGeom>
              <a:avLst/>
              <a:gdLst/>
              <a:ahLst/>
              <a:cxnLst/>
              <a:rect r="r" b="b" t="t" l="l"/>
              <a:pathLst>
                <a:path h="2011426" w="4083431">
                  <a:moveTo>
                    <a:pt x="0" y="0"/>
                  </a:moveTo>
                  <a:lnTo>
                    <a:pt x="4083431" y="0"/>
                  </a:lnTo>
                  <a:lnTo>
                    <a:pt x="4083431" y="2011426"/>
                  </a:lnTo>
                  <a:lnTo>
                    <a:pt x="0" y="2011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6" r="0" b="-29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5526207" y="7861611"/>
            <a:ext cx="1610420" cy="836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4"/>
              </a:lnSpc>
            </a:pPr>
            <a:r>
              <a:rPr lang="en-US" b="true" sz="2526" spc="-4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Solved or</a:t>
            </a:r>
          </a:p>
          <a:p>
            <a:pPr algn="ctr">
              <a:lnSpc>
                <a:spcPts val="3284"/>
              </a:lnSpc>
            </a:pPr>
            <a:r>
              <a:rPr lang="en-US" b="true" sz="2526" spc="-4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 solution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268976" y="3214002"/>
            <a:ext cx="1968808" cy="5148967"/>
            <a:chOff x="0" y="0"/>
            <a:chExt cx="2625077" cy="68652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25090" cy="6865239"/>
            </a:xfrm>
            <a:custGeom>
              <a:avLst/>
              <a:gdLst/>
              <a:ahLst/>
              <a:cxnLst/>
              <a:rect r="r" b="b" t="t" l="l"/>
              <a:pathLst>
                <a:path h="6865239" w="2625090">
                  <a:moveTo>
                    <a:pt x="0" y="0"/>
                  </a:moveTo>
                  <a:lnTo>
                    <a:pt x="2625090" y="0"/>
                  </a:lnTo>
                  <a:lnTo>
                    <a:pt x="2625090" y="6865239"/>
                  </a:lnTo>
                  <a:lnTo>
                    <a:pt x="0" y="6865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6" r="0" b="-27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1471" y="794690"/>
            <a:ext cx="8219713" cy="81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b="true" sz="6845" spc="-340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Visualizing the Solver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9420" y="1848945"/>
            <a:ext cx="3425028" cy="81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b="true" sz="6845" spc="-340">
                <a:solidFill>
                  <a:srgbClr val="397DCD"/>
                </a:solidFill>
                <a:latin typeface="Arimo Bold"/>
                <a:ea typeface="Arimo Bold"/>
                <a:cs typeface="Arimo Bold"/>
                <a:sym typeface="Arimo Bold"/>
              </a:rPr>
              <a:t>in Action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45328" y="2776728"/>
            <a:ext cx="1750047" cy="229572"/>
            <a:chOff x="0" y="0"/>
            <a:chExt cx="2333396" cy="306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371" cy="306070"/>
            </a:xfrm>
            <a:custGeom>
              <a:avLst/>
              <a:gdLst/>
              <a:ahLst/>
              <a:cxnLst/>
              <a:rect r="r" b="b" t="t" l="l"/>
              <a:pathLst>
                <a:path h="306070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" r="-1" b="-3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3672" y="3446164"/>
            <a:ext cx="4822031" cy="81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3" spc="-89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Watch the solver place numbers,</a:t>
            </a:r>
          </a:p>
          <a:p>
            <a:pPr algn="l">
              <a:lnSpc>
                <a:spcPts val="3156"/>
              </a:lnSpc>
            </a:pPr>
            <a:r>
              <a:rPr lang="en-US" sz="2253" spc="-89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check constraints, and backtrack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672" y="4590783"/>
            <a:ext cx="4822031" cy="81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3" spc="-89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See each guess, undo, and progress toward the 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672" y="5735412"/>
            <a:ext cx="4822031" cy="81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3" spc="-89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Enter any puzzle and explore the</a:t>
            </a:r>
          </a:p>
          <a:p>
            <a:pPr algn="l">
              <a:lnSpc>
                <a:spcPts val="3156"/>
              </a:lnSpc>
            </a:pPr>
            <a:r>
              <a:rPr lang="en-US" sz="2253" spc="-89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search step by step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672" y="6895090"/>
            <a:ext cx="4822031" cy="81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3" spc="-89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Built with Python, Streamlit,</a:t>
            </a:r>
          </a:p>
          <a:p>
            <a:pPr algn="l">
              <a:lnSpc>
                <a:spcPts val="3156"/>
              </a:lnSpc>
            </a:pPr>
            <a:r>
              <a:rPr lang="en-US" sz="2253" spc="-89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HTML/CSS/JS for interactivity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98577" y="1497682"/>
            <a:ext cx="13289423" cy="8362969"/>
            <a:chOff x="0" y="0"/>
            <a:chExt cx="17719230" cy="111506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719294" cy="11150600"/>
            </a:xfrm>
            <a:custGeom>
              <a:avLst/>
              <a:gdLst/>
              <a:ahLst/>
              <a:cxnLst/>
              <a:rect r="r" b="b" t="t" l="l"/>
              <a:pathLst>
                <a:path h="11150600" w="17719294">
                  <a:moveTo>
                    <a:pt x="0" y="0"/>
                  </a:moveTo>
                  <a:lnTo>
                    <a:pt x="17719294" y="0"/>
                  </a:lnTo>
                  <a:lnTo>
                    <a:pt x="17719294" y="11150600"/>
                  </a:lnTo>
                  <a:lnTo>
                    <a:pt x="0" y="1115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0" b="-2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48624" y="2142668"/>
            <a:ext cx="3051648" cy="4077633"/>
            <a:chOff x="0" y="0"/>
            <a:chExt cx="4068864" cy="543684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8826" cy="5436870"/>
            </a:xfrm>
            <a:custGeom>
              <a:avLst/>
              <a:gdLst/>
              <a:ahLst/>
              <a:cxnLst/>
              <a:rect r="r" b="b" t="t" l="l"/>
              <a:pathLst>
                <a:path h="5436870" w="4068826">
                  <a:moveTo>
                    <a:pt x="0" y="0"/>
                  </a:moveTo>
                  <a:lnTo>
                    <a:pt x="4068826" y="0"/>
                  </a:lnTo>
                  <a:lnTo>
                    <a:pt x="4068826" y="5436870"/>
                  </a:lnTo>
                  <a:lnTo>
                    <a:pt x="0" y="543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927875" y="2262397"/>
            <a:ext cx="1048674" cy="31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b="true" sz="1494" spc="-59">
                <a:solidFill>
                  <a:srgbClr val="397DCD"/>
                </a:solidFill>
                <a:latin typeface="Arimo Bold"/>
                <a:ea typeface="Arimo Bold"/>
                <a:cs typeface="Arimo Bold"/>
                <a:sym typeface="Arimo Bold"/>
              </a:rPr>
              <a:t>Input Puzzle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748624" y="2569016"/>
            <a:ext cx="2832887" cy="3006300"/>
            <a:chOff x="0" y="0"/>
            <a:chExt cx="3777183" cy="40083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77234" cy="4008374"/>
            </a:xfrm>
            <a:custGeom>
              <a:avLst/>
              <a:gdLst/>
              <a:ahLst/>
              <a:cxnLst/>
              <a:rect r="r" b="b" t="t" l="l"/>
              <a:pathLst>
                <a:path h="4008374" w="3777234">
                  <a:moveTo>
                    <a:pt x="0" y="0"/>
                  </a:moveTo>
                  <a:lnTo>
                    <a:pt x="3777234" y="0"/>
                  </a:lnTo>
                  <a:lnTo>
                    <a:pt x="3777234" y="4008374"/>
                  </a:lnTo>
                  <a:lnTo>
                    <a:pt x="0" y="4008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1" b="-2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48624" y="5564381"/>
            <a:ext cx="2832887" cy="655920"/>
            <a:chOff x="0" y="0"/>
            <a:chExt cx="3777183" cy="87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77234" cy="874522"/>
            </a:xfrm>
            <a:custGeom>
              <a:avLst/>
              <a:gdLst/>
              <a:ahLst/>
              <a:cxnLst/>
              <a:rect r="r" b="b" t="t" l="l"/>
              <a:pathLst>
                <a:path h="874522" w="3777234">
                  <a:moveTo>
                    <a:pt x="0" y="0"/>
                  </a:moveTo>
                  <a:lnTo>
                    <a:pt x="3777234" y="0"/>
                  </a:lnTo>
                  <a:lnTo>
                    <a:pt x="3777234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1" b="-3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990427" y="5681205"/>
            <a:ext cx="478336" cy="31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1"/>
              </a:lnSpc>
            </a:pPr>
            <a:r>
              <a:rPr lang="en-US" b="true" sz="1494" spc="-59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Solve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23837" y="6888785"/>
            <a:ext cx="1452829" cy="1198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0"/>
              </a:lnSpc>
            </a:pPr>
            <a:r>
              <a:rPr lang="en-US" sz="1194" spc="-4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Step: 37</a:t>
            </a:r>
          </a:p>
          <a:p>
            <a:pPr algn="l">
              <a:lnSpc>
                <a:spcPts val="2270"/>
              </a:lnSpc>
            </a:pPr>
            <a:r>
              <a:rPr lang="en-US" sz="1194" spc="-4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Assignments: 24</a:t>
            </a:r>
          </a:p>
          <a:p>
            <a:pPr algn="l">
              <a:lnSpc>
                <a:spcPts val="2270"/>
              </a:lnSpc>
            </a:pPr>
            <a:r>
              <a:rPr lang="en-US" sz="1194" spc="-4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Backtracks: 6</a:t>
            </a:r>
          </a:p>
          <a:p>
            <a:pPr algn="l">
              <a:lnSpc>
                <a:spcPts val="2270"/>
              </a:lnSpc>
            </a:pPr>
            <a:r>
              <a:rPr lang="en-US" sz="1194" spc="-46">
                <a:solidFill>
                  <a:srgbClr val="D9D9D9"/>
                </a:solidFill>
                <a:latin typeface="Arimo"/>
                <a:ea typeface="Arimo"/>
                <a:cs typeface="Arimo"/>
                <a:sym typeface="Arimo"/>
              </a:rPr>
              <a:t>Status: </a:t>
            </a:r>
            <a:r>
              <a:rPr lang="en-US" b="true" sz="1194" spc="-46">
                <a:solidFill>
                  <a:srgbClr val="397DCD"/>
                </a:solidFill>
                <a:latin typeface="Arimo Bold"/>
                <a:ea typeface="Arimo Bold"/>
                <a:cs typeface="Arimo Bold"/>
                <a:sym typeface="Arimo Bold"/>
              </a:rPr>
              <a:t>Searching...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008089" y="2142668"/>
            <a:ext cx="3926672" cy="5148967"/>
            <a:chOff x="0" y="0"/>
            <a:chExt cx="5235562" cy="68652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35575" cy="6865239"/>
            </a:xfrm>
            <a:custGeom>
              <a:avLst/>
              <a:gdLst/>
              <a:ahLst/>
              <a:cxnLst/>
              <a:rect r="r" b="b" t="t" l="l"/>
              <a:pathLst>
                <a:path h="6865239" w="5235575">
                  <a:moveTo>
                    <a:pt x="0" y="0"/>
                  </a:moveTo>
                  <a:lnTo>
                    <a:pt x="5235575" y="0"/>
                  </a:lnTo>
                  <a:lnTo>
                    <a:pt x="5235575" y="6865239"/>
                  </a:lnTo>
                  <a:lnTo>
                    <a:pt x="0" y="6865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0" b="-2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195722" y="2262397"/>
            <a:ext cx="1090984" cy="31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b="true" sz="1494" spc="-59">
                <a:solidFill>
                  <a:srgbClr val="397DCD"/>
                </a:solidFill>
                <a:latin typeface="Arimo Bold"/>
                <a:ea typeface="Arimo Bold"/>
                <a:cs typeface="Arimo Bold"/>
                <a:sym typeface="Arimo Bold"/>
              </a:rPr>
              <a:t>Current Step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08089" y="2569016"/>
            <a:ext cx="3707911" cy="3651285"/>
            <a:chOff x="0" y="0"/>
            <a:chExt cx="4943881" cy="48683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43856" cy="4868418"/>
            </a:xfrm>
            <a:custGeom>
              <a:avLst/>
              <a:gdLst/>
              <a:ahLst/>
              <a:cxnLst/>
              <a:rect r="r" b="b" t="t" l="l"/>
              <a:pathLst>
                <a:path h="4868418" w="4943856">
                  <a:moveTo>
                    <a:pt x="0" y="0"/>
                  </a:moveTo>
                  <a:lnTo>
                    <a:pt x="4943856" y="0"/>
                  </a:lnTo>
                  <a:lnTo>
                    <a:pt x="4943856" y="4868418"/>
                  </a:lnTo>
                  <a:lnTo>
                    <a:pt x="0" y="486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0" b="-2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08089" y="7280700"/>
            <a:ext cx="3926672" cy="1082269"/>
            <a:chOff x="0" y="0"/>
            <a:chExt cx="5235562" cy="14430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35575" cy="1442974"/>
            </a:xfrm>
            <a:custGeom>
              <a:avLst/>
              <a:gdLst/>
              <a:ahLst/>
              <a:cxnLst/>
              <a:rect r="r" b="b" t="t" l="l"/>
              <a:pathLst>
                <a:path h="1442974" w="5235575">
                  <a:moveTo>
                    <a:pt x="0" y="0"/>
                  </a:moveTo>
                  <a:lnTo>
                    <a:pt x="5235575" y="0"/>
                  </a:lnTo>
                  <a:lnTo>
                    <a:pt x="5235575" y="1442974"/>
                  </a:lnTo>
                  <a:lnTo>
                    <a:pt x="0" y="144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" r="0" b="-29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664352" y="7707049"/>
            <a:ext cx="875024" cy="655920"/>
            <a:chOff x="0" y="0"/>
            <a:chExt cx="1166698" cy="87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66749" cy="874522"/>
            </a:xfrm>
            <a:custGeom>
              <a:avLst/>
              <a:gdLst/>
              <a:ahLst/>
              <a:cxnLst/>
              <a:rect r="r" b="b" t="t" l="l"/>
              <a:pathLst>
                <a:path h="874522" w="1166749">
                  <a:moveTo>
                    <a:pt x="0" y="0"/>
                  </a:moveTo>
                  <a:lnTo>
                    <a:pt x="1166749" y="0"/>
                  </a:lnTo>
                  <a:lnTo>
                    <a:pt x="1166749" y="874522"/>
                  </a:lnTo>
                  <a:lnTo>
                    <a:pt x="0" y="87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6" r="4" b="-31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660486" y="7774000"/>
            <a:ext cx="1954340" cy="359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39" spc="869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3X 4X 5X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923816" y="2142668"/>
            <a:ext cx="3281343" cy="2787653"/>
            <a:chOff x="0" y="0"/>
            <a:chExt cx="4375125" cy="37168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75150" cy="3716909"/>
            </a:xfrm>
            <a:custGeom>
              <a:avLst/>
              <a:gdLst/>
              <a:ahLst/>
              <a:cxnLst/>
              <a:rect r="r" b="b" t="t" l="l"/>
              <a:pathLst>
                <a:path h="3716909" w="4375150">
                  <a:moveTo>
                    <a:pt x="0" y="0"/>
                  </a:moveTo>
                  <a:lnTo>
                    <a:pt x="4375150" y="0"/>
                  </a:lnTo>
                  <a:lnTo>
                    <a:pt x="4375150" y="3716909"/>
                  </a:lnTo>
                  <a:lnTo>
                    <a:pt x="0" y="3716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26" r="0" b="-25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212738" y="2262397"/>
            <a:ext cx="1225106" cy="31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b="true" sz="1494" spc="-59">
                <a:solidFill>
                  <a:srgbClr val="397DCD"/>
                </a:solidFill>
                <a:latin typeface="Arimo Bold"/>
                <a:ea typeface="Arimo Bold"/>
                <a:cs typeface="Arimo Bold"/>
                <a:sym typeface="Arimo Bold"/>
              </a:rPr>
              <a:t>Backtrack Log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142577" y="2776728"/>
            <a:ext cx="448447" cy="1727254"/>
            <a:chOff x="0" y="0"/>
            <a:chExt cx="597929" cy="230300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97916" cy="2303018"/>
            </a:xfrm>
            <a:custGeom>
              <a:avLst/>
              <a:gdLst/>
              <a:ahLst/>
              <a:cxnLst/>
              <a:rect r="r" b="b" t="t" l="l"/>
              <a:pathLst>
                <a:path h="2303018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2303018"/>
                  </a:lnTo>
                  <a:lnTo>
                    <a:pt x="0" y="230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6" r="-2" b="-26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583146" y="2812228"/>
            <a:ext cx="1688887" cy="1520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sz="1194" spc="-4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36: Undo 5 at R6C6</a:t>
            </a:r>
          </a:p>
          <a:p>
            <a:pPr algn="l">
              <a:lnSpc>
                <a:spcPts val="1791"/>
              </a:lnSpc>
            </a:pPr>
          </a:p>
          <a:p>
            <a:pPr algn="l">
              <a:lnSpc>
                <a:spcPts val="1791"/>
              </a:lnSpc>
            </a:pPr>
            <a:r>
              <a:rPr lang="en-US" sz="1194" spc="-4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34: Undo 8 at R5C4</a:t>
            </a:r>
          </a:p>
          <a:p>
            <a:pPr algn="l">
              <a:lnSpc>
                <a:spcPts val="1791"/>
              </a:lnSpc>
            </a:pPr>
          </a:p>
          <a:p>
            <a:pPr algn="l">
              <a:lnSpc>
                <a:spcPts val="1791"/>
              </a:lnSpc>
            </a:pPr>
            <a:r>
              <a:rPr lang="en-US" sz="1194" spc="-4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29: Undo 7 at R4C7</a:t>
            </a:r>
          </a:p>
          <a:p>
            <a:pPr algn="l">
              <a:lnSpc>
                <a:spcPts val="1791"/>
              </a:lnSpc>
            </a:pPr>
          </a:p>
          <a:p>
            <a:pPr algn="l">
              <a:lnSpc>
                <a:spcPts val="1791"/>
              </a:lnSpc>
            </a:pPr>
            <a:r>
              <a:rPr lang="en-US" sz="1194" spc="-4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Step 21: Undo 1 at R2C2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923816" y="4711684"/>
            <a:ext cx="3281343" cy="3651285"/>
            <a:chOff x="0" y="0"/>
            <a:chExt cx="4375125" cy="48683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75150" cy="4868418"/>
            </a:xfrm>
            <a:custGeom>
              <a:avLst/>
              <a:gdLst/>
              <a:ahLst/>
              <a:cxnLst/>
              <a:rect r="r" b="b" t="t" l="l"/>
              <a:pathLst>
                <a:path h="4868418" w="4375150">
                  <a:moveTo>
                    <a:pt x="0" y="0"/>
                  </a:moveTo>
                  <a:lnTo>
                    <a:pt x="4375150" y="0"/>
                  </a:lnTo>
                  <a:lnTo>
                    <a:pt x="4375150" y="4868418"/>
                  </a:lnTo>
                  <a:lnTo>
                    <a:pt x="0" y="486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6" r="0" b="-2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142577" y="5138033"/>
            <a:ext cx="2843832" cy="3224936"/>
            <a:chOff x="0" y="0"/>
            <a:chExt cx="3791776" cy="429991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91712" cy="4299966"/>
            </a:xfrm>
            <a:custGeom>
              <a:avLst/>
              <a:gdLst/>
              <a:ahLst/>
              <a:cxnLst/>
              <a:rect r="r" b="b" t="t" l="l"/>
              <a:pathLst>
                <a:path h="4299966" w="3791712">
                  <a:moveTo>
                    <a:pt x="0" y="0"/>
                  </a:moveTo>
                  <a:lnTo>
                    <a:pt x="3791712" y="0"/>
                  </a:lnTo>
                  <a:lnTo>
                    <a:pt x="3791712" y="4299966"/>
                  </a:lnTo>
                  <a:lnTo>
                    <a:pt x="0" y="4299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26" r="-1" b="-25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178510" y="6743871"/>
            <a:ext cx="2812285" cy="29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2"/>
              </a:lnSpc>
            </a:pPr>
            <a:r>
              <a:rPr lang="en-US" sz="1335" spc="-53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Checking row, column, and 3×3 box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91617" y="6389065"/>
            <a:ext cx="1501216" cy="31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b="true" sz="1494" spc="-59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Placing 2 </a:t>
            </a:r>
            <a:r>
              <a:rPr lang="en-US" b="true" sz="1494" spc="-59">
                <a:solidFill>
                  <a:srgbClr val="397DCD"/>
                </a:solidFill>
                <a:latin typeface="Arimo Bold"/>
                <a:ea typeface="Arimo Bold"/>
                <a:cs typeface="Arimo Bold"/>
                <a:sym typeface="Arimo Bold"/>
              </a:rPr>
              <a:t>at R6C5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93826" y="7383085"/>
            <a:ext cx="1280693" cy="31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b="true" sz="1494" spc="-59">
                <a:solidFill>
                  <a:srgbClr val="397DCD"/>
                </a:solidFill>
                <a:latin typeface="Arimo Bold"/>
                <a:ea typeface="Arimo Bold"/>
                <a:cs typeface="Arimo Bold"/>
                <a:sym typeface="Arimo Bold"/>
              </a:rPr>
              <a:t>Numbers Tried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927028" y="6464370"/>
            <a:ext cx="1134227" cy="31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b="true" sz="1494" spc="-59">
                <a:solidFill>
                  <a:srgbClr val="397DCD"/>
                </a:solidFill>
                <a:latin typeface="Arimo Bold"/>
                <a:ea typeface="Arimo Bold"/>
                <a:cs typeface="Arimo Bold"/>
                <a:sym typeface="Arimo Bold"/>
              </a:rPr>
              <a:t>Solver Status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39751" y="4898050"/>
            <a:ext cx="1202722" cy="31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1"/>
              </a:lnSpc>
            </a:pPr>
            <a:r>
              <a:rPr lang="en-US" b="true" sz="1494" spc="-59">
                <a:solidFill>
                  <a:srgbClr val="397DCD"/>
                </a:solidFill>
                <a:latin typeface="Arimo Bold"/>
                <a:ea typeface="Arimo Bold"/>
                <a:cs typeface="Arimo Bold"/>
                <a:sym typeface="Arimo Bold"/>
              </a:rPr>
              <a:t>Solved Puzzle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01789" y="7774000"/>
            <a:ext cx="484080" cy="359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39" spc="869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1X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986154" y="7754950"/>
            <a:ext cx="257251" cy="37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1739" spc="869">
                <a:solidFill>
                  <a:srgbClr val="D9D9D9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41915" y="778126"/>
            <a:ext cx="9570196" cy="84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3"/>
              </a:lnSpc>
            </a:pPr>
            <a:r>
              <a:rPr lang="en-US" b="true" sz="7263" spc="-289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Algorithm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5788" y="1757077"/>
            <a:ext cx="4182532" cy="847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3"/>
              </a:lnSpc>
            </a:pPr>
            <a:r>
              <a:rPr lang="en-US" b="true" sz="7263" spc="-289">
                <a:solidFill>
                  <a:srgbClr val="4689D4"/>
                </a:solidFill>
                <a:latin typeface="Arimo Bold"/>
                <a:ea typeface="Arimo Bold"/>
                <a:cs typeface="Arimo Bold"/>
                <a:sym typeface="Arimo Bold"/>
              </a:rPr>
              <a:t>(Optional)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64089" y="2776728"/>
            <a:ext cx="1750047" cy="229572"/>
            <a:chOff x="0" y="0"/>
            <a:chExt cx="2333396" cy="306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3371" cy="306070"/>
            </a:xfrm>
            <a:custGeom>
              <a:avLst/>
              <a:gdLst/>
              <a:ahLst/>
              <a:cxnLst/>
              <a:rect r="r" b="b" t="t" l="l"/>
              <a:pathLst>
                <a:path h="306070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306070"/>
                  </a:lnTo>
                  <a:lnTo>
                    <a:pt x="0" y="30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4" r="-1" b="-3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40029" y="3246253"/>
            <a:ext cx="9759210" cy="271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6"/>
              </a:lnSpc>
            </a:pPr>
            <a:r>
              <a:rPr lang="en-US" sz="2486" spc="-99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Constraint checking slashes the search space and speeds up solving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64089" y="4285336"/>
            <a:ext cx="4145423" cy="4077633"/>
            <a:chOff x="0" y="0"/>
            <a:chExt cx="5527230" cy="54368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27294" cy="5436870"/>
            </a:xfrm>
            <a:custGeom>
              <a:avLst/>
              <a:gdLst/>
              <a:ahLst/>
              <a:cxnLst/>
              <a:rect r="r" b="b" t="t" l="l"/>
              <a:pathLst>
                <a:path h="5436870" w="5527294">
                  <a:moveTo>
                    <a:pt x="0" y="0"/>
                  </a:moveTo>
                  <a:lnTo>
                    <a:pt x="5527294" y="0"/>
                  </a:lnTo>
                  <a:lnTo>
                    <a:pt x="5527294" y="5436870"/>
                  </a:lnTo>
                  <a:lnTo>
                    <a:pt x="0" y="543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1" b="-2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41284" y="4793913"/>
            <a:ext cx="2678906" cy="62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b="true" sz="2652" spc="-105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Search Effort</a:t>
            </a:r>
          </a:p>
          <a:p>
            <a:pPr algn="l">
              <a:lnSpc>
                <a:spcPts val="2652"/>
              </a:lnSpc>
            </a:pPr>
            <a:r>
              <a:rPr lang="en-US" sz="2652" spc="-105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(recursive calls)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1284" y="6059033"/>
            <a:ext cx="2678906" cy="62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b="true" sz="2652" spc="-105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Solving Time</a:t>
            </a:r>
          </a:p>
          <a:p>
            <a:pPr algn="l">
              <a:lnSpc>
                <a:spcPts val="2652"/>
              </a:lnSpc>
            </a:pPr>
            <a:r>
              <a:rPr lang="en-US" sz="2652" spc="-105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(sample puzzles)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1284" y="7294016"/>
            <a:ext cx="2678906" cy="624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b="true" sz="2652" spc="-105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Decision Path</a:t>
            </a:r>
          </a:p>
          <a:p>
            <a:pPr algn="l">
              <a:lnSpc>
                <a:spcPts val="2652"/>
              </a:lnSpc>
            </a:pPr>
            <a:r>
              <a:rPr lang="en-US" sz="2652" spc="-105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(visual behavior)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998577" y="3640350"/>
            <a:ext cx="5895470" cy="863632"/>
            <a:chOff x="0" y="0"/>
            <a:chExt cx="7860627" cy="11515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0665" cy="1151509"/>
            </a:xfrm>
            <a:custGeom>
              <a:avLst/>
              <a:gdLst/>
              <a:ahLst/>
              <a:cxnLst/>
              <a:rect r="r" b="b" t="t" l="l"/>
              <a:pathLst>
                <a:path h="1151509" w="7860665">
                  <a:moveTo>
                    <a:pt x="0" y="0"/>
                  </a:moveTo>
                  <a:lnTo>
                    <a:pt x="7860665" y="0"/>
                  </a:lnTo>
                  <a:lnTo>
                    <a:pt x="7860665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" r="0" b="-2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225149" y="4031190"/>
            <a:ext cx="2991460" cy="23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6"/>
              </a:lnSpc>
            </a:pPr>
            <a:r>
              <a:rPr lang="en-US" b="true" sz="2046" spc="-80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BACKTRACKING ALONE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64352" y="3640350"/>
            <a:ext cx="6759559" cy="863632"/>
            <a:chOff x="0" y="0"/>
            <a:chExt cx="9012746" cy="11515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12809" cy="1151509"/>
            </a:xfrm>
            <a:custGeom>
              <a:avLst/>
              <a:gdLst/>
              <a:ahLst/>
              <a:cxnLst/>
              <a:rect r="r" b="b" t="t" l="l"/>
              <a:pathLst>
                <a:path h="1151509" w="9012809">
                  <a:moveTo>
                    <a:pt x="0" y="0"/>
                  </a:moveTo>
                  <a:lnTo>
                    <a:pt x="9012809" y="0"/>
                  </a:lnTo>
                  <a:lnTo>
                    <a:pt x="9012809" y="1151509"/>
                  </a:lnTo>
                  <a:lnTo>
                    <a:pt x="0" y="115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6" r="0" b="-2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304108" y="4031190"/>
            <a:ext cx="5445652" cy="23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6"/>
              </a:lnSpc>
            </a:pPr>
            <a:r>
              <a:rPr lang="en-US" b="true" sz="2046" spc="-80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BACKTRACKING + CONSTRAINT CHECKING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998577" y="4285336"/>
            <a:ext cx="5895470" cy="4077633"/>
            <a:chOff x="0" y="0"/>
            <a:chExt cx="7860627" cy="54368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60665" cy="5436870"/>
            </a:xfrm>
            <a:custGeom>
              <a:avLst/>
              <a:gdLst/>
              <a:ahLst/>
              <a:cxnLst/>
              <a:rect r="r" b="b" t="t" l="l"/>
              <a:pathLst>
                <a:path h="5436870" w="7860665">
                  <a:moveTo>
                    <a:pt x="0" y="0"/>
                  </a:moveTo>
                  <a:lnTo>
                    <a:pt x="7860665" y="0"/>
                  </a:lnTo>
                  <a:lnTo>
                    <a:pt x="7860665" y="5436870"/>
                  </a:lnTo>
                  <a:lnTo>
                    <a:pt x="0" y="543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6" r="0" b="-2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987367" y="4811916"/>
            <a:ext cx="4017083" cy="53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b="true" sz="2073" spc="-82">
                <a:solidFill>
                  <a:srgbClr val="4689D4"/>
                </a:solidFill>
                <a:latin typeface="Arimo Bold"/>
                <a:ea typeface="Arimo Bold"/>
                <a:cs typeface="Arimo Bold"/>
                <a:sym typeface="Arimo Bold"/>
              </a:rPr>
              <a:t>High</a:t>
            </a:r>
          </a:p>
          <a:p>
            <a:pPr algn="l">
              <a:lnSpc>
                <a:spcPts val="2903"/>
              </a:lnSpc>
            </a:pPr>
            <a:r>
              <a:rPr lang="en-US" sz="2073" spc="-82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Explores many invalid branches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95845" y="6047403"/>
            <a:ext cx="3169844" cy="61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4"/>
              </a:lnSpc>
            </a:pPr>
            <a:r>
              <a:rPr lang="en-US" b="true" sz="2354" spc="-94">
                <a:solidFill>
                  <a:srgbClr val="4689D4"/>
                </a:solidFill>
                <a:latin typeface="Arimo Bold"/>
                <a:ea typeface="Arimo Bold"/>
                <a:cs typeface="Arimo Bold"/>
                <a:sym typeface="Arimo Bold"/>
              </a:rPr>
              <a:t>Longer</a:t>
            </a:r>
          </a:p>
          <a:p>
            <a:pPr algn="l">
              <a:lnSpc>
                <a:spcPts val="3297"/>
              </a:lnSpc>
            </a:pPr>
            <a:r>
              <a:rPr lang="en-US" sz="2354" spc="-94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steps, more time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87367" y="7272261"/>
            <a:ext cx="4017140" cy="54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1"/>
              </a:lnSpc>
            </a:pPr>
            <a:r>
              <a:rPr lang="en-US" b="true" sz="2021" spc="-80">
                <a:solidFill>
                  <a:srgbClr val="4689D4"/>
                </a:solidFill>
                <a:latin typeface="Arimo Bold"/>
                <a:ea typeface="Arimo Bold"/>
                <a:cs typeface="Arimo Bold"/>
                <a:sym typeface="Arimo Bold"/>
              </a:rPr>
              <a:t>Wider</a:t>
            </a:r>
          </a:p>
          <a:p>
            <a:pPr algn="l">
              <a:lnSpc>
                <a:spcPts val="2830"/>
              </a:lnSpc>
            </a:pPr>
            <a:r>
              <a:rPr lang="en-US" sz="2021" spc="-80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Many dead ends and backtracks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664352" y="4285336"/>
            <a:ext cx="6759559" cy="4077633"/>
            <a:chOff x="0" y="0"/>
            <a:chExt cx="9012746" cy="543684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12809" cy="5436870"/>
            </a:xfrm>
            <a:custGeom>
              <a:avLst/>
              <a:gdLst/>
              <a:ahLst/>
              <a:cxnLst/>
              <a:rect r="r" b="b" t="t" l="l"/>
              <a:pathLst>
                <a:path h="5436870" w="9012809">
                  <a:moveTo>
                    <a:pt x="0" y="0"/>
                  </a:moveTo>
                  <a:lnTo>
                    <a:pt x="9012809" y="0"/>
                  </a:lnTo>
                  <a:lnTo>
                    <a:pt x="9012809" y="5436870"/>
                  </a:lnTo>
                  <a:lnTo>
                    <a:pt x="0" y="5436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6" r="0" b="-25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318396" y="4811849"/>
            <a:ext cx="4016235" cy="53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b="true" sz="2073" spc="-82">
                <a:solidFill>
                  <a:srgbClr val="4689D4"/>
                </a:solidFill>
                <a:latin typeface="Arimo Bold"/>
                <a:ea typeface="Arimo Bold"/>
                <a:cs typeface="Arimo Bold"/>
                <a:sym typeface="Arimo Bold"/>
              </a:rPr>
              <a:t>Lower</a:t>
            </a:r>
          </a:p>
          <a:p>
            <a:pPr algn="l">
              <a:lnSpc>
                <a:spcPts val="2903"/>
              </a:lnSpc>
            </a:pPr>
            <a:r>
              <a:rPr lang="en-US" sz="2073" spc="-82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Prunes impossible choices early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318386" y="6028630"/>
            <a:ext cx="4017540" cy="59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2210" spc="-88">
                <a:solidFill>
                  <a:srgbClr val="4689D4"/>
                </a:solidFill>
                <a:latin typeface="Arimo Bold"/>
                <a:ea typeface="Arimo Bold"/>
                <a:cs typeface="Arimo Bold"/>
                <a:sym typeface="Arimo Bold"/>
              </a:rPr>
              <a:t>Faster</a:t>
            </a:r>
          </a:p>
          <a:p>
            <a:pPr algn="l">
              <a:lnSpc>
                <a:spcPts val="3094"/>
              </a:lnSpc>
            </a:pPr>
            <a:r>
              <a:rPr lang="en-US" sz="2210" spc="-88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Fewer steps, quicker solutions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323796" y="7291321"/>
            <a:ext cx="3476835" cy="602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2"/>
              </a:lnSpc>
            </a:pPr>
            <a:r>
              <a:rPr lang="en-US" b="true" sz="2292" spc="-90">
                <a:solidFill>
                  <a:srgbClr val="4689D4"/>
                </a:solidFill>
                <a:latin typeface="Arimo Bold"/>
                <a:ea typeface="Arimo Bold"/>
                <a:cs typeface="Arimo Bold"/>
                <a:sym typeface="Arimo Bold"/>
              </a:rPr>
              <a:t>Narrower</a:t>
            </a:r>
          </a:p>
          <a:p>
            <a:pPr algn="l">
              <a:lnSpc>
                <a:spcPts val="3211"/>
              </a:lnSpc>
            </a:pPr>
            <a:r>
              <a:rPr lang="en-US" sz="2292" spc="-90">
                <a:solidFill>
                  <a:srgbClr val="F6F6F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Focused path to solution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64089" y="8352034"/>
            <a:ext cx="16559832" cy="1300905"/>
            <a:chOff x="0" y="0"/>
            <a:chExt cx="22079776" cy="173454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79713" cy="1734566"/>
            </a:xfrm>
            <a:custGeom>
              <a:avLst/>
              <a:gdLst/>
              <a:ahLst/>
              <a:cxnLst/>
              <a:rect r="r" b="b" t="t" l="l"/>
              <a:pathLst>
                <a:path h="1734566" w="22079713">
                  <a:moveTo>
                    <a:pt x="0" y="0"/>
                  </a:moveTo>
                  <a:lnTo>
                    <a:pt x="22079713" y="0"/>
                  </a:lnTo>
                  <a:lnTo>
                    <a:pt x="22079713" y="1734566"/>
                  </a:lnTo>
                  <a:lnTo>
                    <a:pt x="0" y="1734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6" r="0" b="-25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2121608" y="8809463"/>
            <a:ext cx="13725277" cy="3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b="true" sz="3032" spc="-121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Key takeaway: </a:t>
            </a:r>
            <a:r>
              <a:rPr lang="en-US" b="true" sz="3032" spc="-121">
                <a:solidFill>
                  <a:srgbClr val="4689D4"/>
                </a:solidFill>
                <a:latin typeface="Arimo Bold"/>
                <a:ea typeface="Arimo Bold"/>
                <a:cs typeface="Arimo Bold"/>
                <a:sym typeface="Arimo Bold"/>
              </a:rPr>
              <a:t>constraint checking reduces search space and speeds solving.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68976" y="1924031"/>
            <a:ext cx="10019024" cy="7936621"/>
            <a:chOff x="0" y="0"/>
            <a:chExt cx="13358698" cy="105821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58749" cy="10582148"/>
            </a:xfrm>
            <a:custGeom>
              <a:avLst/>
              <a:gdLst/>
              <a:ahLst/>
              <a:cxnLst/>
              <a:rect r="r" b="b" t="t" l="l"/>
              <a:pathLst>
                <a:path h="10582148" w="13358749">
                  <a:moveTo>
                    <a:pt x="0" y="0"/>
                  </a:moveTo>
                  <a:lnTo>
                    <a:pt x="13358749" y="0"/>
                  </a:lnTo>
                  <a:lnTo>
                    <a:pt x="13358749" y="10582148"/>
                  </a:lnTo>
                  <a:lnTo>
                    <a:pt x="0" y="105821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3014" y="882091"/>
            <a:ext cx="6460550" cy="196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b="true" sz="8100" spc="-240">
                <a:solidFill>
                  <a:srgbClr val="F6F6F6"/>
                </a:solidFill>
                <a:latin typeface="Arimo Bold"/>
                <a:ea typeface="Arimo Bold"/>
                <a:cs typeface="Arimo Bold"/>
                <a:sym typeface="Arimo Bold"/>
              </a:rPr>
              <a:t>Summary and </a:t>
            </a:r>
            <a:r>
              <a:rPr lang="en-US" b="true" sz="8100" spc="-240">
                <a:solidFill>
                  <a:srgbClr val="5693E4"/>
                </a:solidFill>
                <a:latin typeface="Arimo Bold"/>
                <a:ea typeface="Arimo Bold"/>
                <a:cs typeface="Arimo Bold"/>
                <a:sym typeface="Arimo Bold"/>
              </a:rPr>
              <a:t>Next Steps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64089" y="2995365"/>
            <a:ext cx="1750047" cy="437283"/>
            <a:chOff x="0" y="0"/>
            <a:chExt cx="2333396" cy="5830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33371" cy="583057"/>
            </a:xfrm>
            <a:custGeom>
              <a:avLst/>
              <a:gdLst/>
              <a:ahLst/>
              <a:cxnLst/>
              <a:rect r="r" b="b" t="t" l="l"/>
              <a:pathLst>
                <a:path h="583057" w="2333371">
                  <a:moveTo>
                    <a:pt x="0" y="0"/>
                  </a:moveTo>
                  <a:lnTo>
                    <a:pt x="2333371" y="0"/>
                  </a:lnTo>
                  <a:lnTo>
                    <a:pt x="2333371" y="583057"/>
                  </a:lnTo>
                  <a:lnTo>
                    <a:pt x="0" y="583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6" r="-1" b="-2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72147" y="3762404"/>
            <a:ext cx="6546723" cy="74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574" spc="-7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Interactive visualization makes backtracking and constraints easy to grasp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1320" y="4876914"/>
            <a:ext cx="5629894" cy="74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574" spc="-7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Clear visibility into algorithm decisions</a:t>
            </a:r>
          </a:p>
          <a:p>
            <a:pPr algn="l">
              <a:lnSpc>
                <a:spcPts val="3089"/>
              </a:lnSpc>
            </a:pPr>
            <a:r>
              <a:rPr lang="en-US" sz="2574" spc="-7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and undo logic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7091" y="6051652"/>
            <a:ext cx="6052728" cy="74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574" spc="-7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Extend with new algorithms, stronger validation, and performance optimization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3550" y="7226398"/>
            <a:ext cx="4407103" cy="74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574" spc="-7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Try the prototype and explore</a:t>
            </a:r>
          </a:p>
          <a:p>
            <a:pPr algn="l">
              <a:lnSpc>
                <a:spcPts val="3089"/>
              </a:lnSpc>
            </a:pPr>
            <a:r>
              <a:rPr lang="en-US" sz="2574" spc="-76">
                <a:solidFill>
                  <a:srgbClr val="D9D9D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solver in action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074388" y="4103056"/>
            <a:ext cx="6139224" cy="173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DAHW8GqggQo</dc:identifier>
  <dcterms:modified xsi:type="dcterms:W3CDTF">2011-08-01T06:04:30Z</dcterms:modified>
  <cp:revision>1</cp:revision>
  <dc:title>Sudoku Solver Arena (1).pptx</dc:title>
</cp:coreProperties>
</file>